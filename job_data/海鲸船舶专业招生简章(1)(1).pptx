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57" r:id="rId6"/>
    <p:sldId id="258" r:id="rId7"/>
    <p:sldId id="259" r:id="rId8"/>
    <p:sldId id="260" r:id="rId9"/>
    <p:sldId id="261" r:id="rId10"/>
    <p:sldId id="265" r:id="rId11"/>
    <p:sldId id="263" r:id="rId1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视觉素材来源：海鲸船舶介绍.pdf 第1页建筑照片。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企业简介与认证信息整理自海鲸船舶介绍.pdf 第2页。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报名联系方式因原 PDF 未提供，按用户要求保留可替换占位。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微信图片_20260728194751_10_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0" y="-635"/>
            <a:ext cx="10285730" cy="6857365"/>
          </a:xfrm>
          <a:prstGeom prst="rect">
            <a:avLst/>
          </a:prstGeom>
          <a:gradFill flip="none">
            <a:gsLst>
              <a:gs pos="5000">
                <a:schemeClr val="accent1">
                  <a:lumMod val="17000"/>
                  <a:lumOff val="83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</p:pic>
      <p:sp>
        <p:nvSpPr>
          <p:cNvPr id="12" name="矩形 11"/>
          <p:cNvSpPr/>
          <p:nvPr/>
        </p:nvSpPr>
        <p:spPr>
          <a:xfrm>
            <a:off x="1843405" y="-635"/>
            <a:ext cx="8140700" cy="68573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4000">
                <a:schemeClr val="bg1"/>
              </a:gs>
              <a:gs pos="83000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431596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把兴趣，变成能落地的技术能力</a:t>
            </a:r>
            <a:endParaRPr lang="en-US" sz="17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58368" y="5074920"/>
            <a:ext cx="1874520" cy="457200"/>
          </a:xfrm>
          <a:prstGeom prst="roundRect">
            <a:avLst>
              <a:gd name="adj" fmla="val 44000"/>
            </a:avLst>
          </a:prstGeom>
          <a:solidFill>
            <a:srgbClr val="F49A35"/>
          </a:solidFill>
          <a:ln w="12700">
            <a:solidFill>
              <a:srgbClr val="F49A35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518464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面向船舶智能制造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58495" y="2308225"/>
            <a:ext cx="5917565" cy="767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电气自动化×计算机管理</a:t>
            </a:r>
            <a:r>
              <a:rPr lang="zh-CN" altLang="en-US" sz="40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岗位招聘</a:t>
            </a:r>
            <a:endParaRPr lang="zh-CN" altLang="en-US" sz="40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3" name="图片 12" descr="海鲸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" y="80645"/>
            <a:ext cx="144526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2377440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0F8CC9"/>
                </a:solidFill>
                <a:latin typeface="微软雅黑" panose="020B0503020204020204" pitchFamily="34" charset="-122"/>
              </a:rPr>
              <a:t>01 / </a:t>
            </a:r>
            <a:r>
              <a:rPr lang="en-US" sz="1000" b="1">
                <a:solidFill>
                  <a:srgbClr val="0F8CC9"/>
                </a:solidFill>
                <a:latin typeface="微软雅黑" panose="020B0503020204020204" pitchFamily="34" charset="-122"/>
              </a:rPr>
              <a:t>Intro</a:t>
            </a:r>
            <a:r>
              <a:rPr lang="en-US" sz="1000" b="1">
                <a:solidFill>
                  <a:srgbClr val="0F8CC9"/>
                </a:solidFill>
                <a:latin typeface="微软雅黑" panose="020B0503020204020204" pitchFamily="34" charset="-122"/>
              </a:rPr>
              <a:t>duce</a:t>
            </a:r>
            <a:endParaRPr lang="en-US" sz="1000" b="1">
              <a:solidFill>
                <a:srgbClr val="0F8CC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>
                <a:solidFill>
                  <a:srgbClr val="08243A"/>
                </a:solidFill>
                <a:latin typeface="微软雅黑" panose="020B0503020204020204" pitchFamily="34" charset="-122"/>
              </a:rPr>
              <a:t>企业简介</a:t>
            </a:r>
            <a:endParaRPr sz="28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320" y="676656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从船舶电气，到向海向未来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2057400" cy="4526280"/>
          </a:xfrm>
          <a:prstGeom prst="roundRect">
            <a:avLst/>
          </a:prstGeom>
          <a:solidFill>
            <a:srgbClr val="0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发展坐标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B8D4E4"/>
                </a:solidFill>
                <a:latin typeface="微软雅黑" panose="020B0503020204020204" pitchFamily="34" charset="-122"/>
              </a:rPr>
              <a:t>从成立到新五年规划</a:t>
            </a:r>
            <a:endParaRPr sz="950" b="0">
              <a:solidFill>
                <a:srgbClr val="B8D4E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2415" y="2679192"/>
            <a:ext cx="36576" cy="2240280"/>
          </a:xfrm>
          <a:prstGeom prst="rect">
            <a:avLst/>
          </a:prstGeom>
          <a:solidFill>
            <a:srgbClr val="0F8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761488"/>
            <a:ext cx="292608" cy="292608"/>
          </a:xfrm>
          <a:prstGeom prst="ellipse">
            <a:avLst/>
          </a:prstGeom>
          <a:solidFill>
            <a:srgbClr val="0F8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73405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2021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89888" y="304495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D7ECF4"/>
                </a:solidFill>
                <a:latin typeface="微软雅黑" panose="020B0503020204020204" pitchFamily="34" charset="-122"/>
              </a:rPr>
              <a:t>企业成立</a:t>
            </a:r>
            <a:endParaRPr sz="1050" b="1">
              <a:solidFill>
                <a:srgbClr val="D7ECF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89888" y="331927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B8D4E4"/>
                </a:solidFill>
                <a:latin typeface="微软雅黑" panose="020B0503020204020204" pitchFamily="34" charset="-122"/>
              </a:rPr>
              <a:t>深耕船舶电气
研发与制造</a:t>
            </a:r>
            <a:endParaRPr sz="950" b="0">
              <a:solidFill>
                <a:srgbClr val="B8D4E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14400" y="3913632"/>
            <a:ext cx="292608" cy="29260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015" y="3886200"/>
            <a:ext cx="1201420" cy="265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2026–2030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89888" y="419709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D7ECF4"/>
                </a:solidFill>
                <a:latin typeface="微软雅黑" panose="020B0503020204020204" pitchFamily="34" charset="-122"/>
              </a:rPr>
              <a:t>第二个五年规划</a:t>
            </a:r>
            <a:endParaRPr sz="1050" b="1">
              <a:solidFill>
                <a:srgbClr val="D7ECF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9888" y="4471416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B8D4E4"/>
                </a:solidFill>
                <a:latin typeface="微软雅黑" panose="020B0503020204020204" pitchFamily="34" charset="-122"/>
              </a:rPr>
              <a:t>新基地与研发大楼
面向高校广纳英才</a:t>
            </a:r>
            <a:endParaRPr sz="950" b="0">
              <a:solidFill>
                <a:srgbClr val="B8D4E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深海 · 极地
绿色 · 智能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07792" y="1417320"/>
            <a:ext cx="4187952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8960" y="1618488"/>
            <a:ext cx="164592" cy="164592"/>
          </a:xfrm>
          <a:prstGeom prst="ellipse">
            <a:avLst/>
          </a:prstGeom>
          <a:solidFill>
            <a:srgbClr val="0F8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1563624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8243A"/>
                </a:solidFill>
                <a:latin typeface="微软雅黑" panose="020B0503020204020204" pitchFamily="34" charset="-122"/>
              </a:rPr>
              <a:t>企业定位</a:t>
            </a:r>
            <a:endParaRPr sz="15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27248" y="1984248"/>
            <a:ext cx="3749039" cy="1225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江阴市海鲸船舶设备有限公司成立于 2021 年 1 月，坐落于江阴市经济开发区深业研创科技产业园，是专注船用电气设备及控制系统研发、设计、生产的国家级高新技术企业。公司深耕船舶电气领域，围绕“深海、极地、绿色、智能”发展方向，立志打造国内领先、世界一流船用配套企业。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33488" y="1417320"/>
            <a:ext cx="4187952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34656" y="1618488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1563624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8243A"/>
                </a:solidFill>
                <a:latin typeface="微软雅黑" panose="020B0503020204020204" pitchFamily="34" charset="-122"/>
              </a:rPr>
              <a:t>技术团队</a:t>
            </a:r>
            <a:endParaRPr sz="15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52944" y="1984248"/>
            <a:ext cx="3749039" cy="1225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公司技术团队覆盖结构设计、力学计算、电子工程、自动控制、通信技术、网络安全等多专业；产品应用于民船、特种船舶、海洋工程等项目，是瓦锡兰、古野、青岛双瑞、中国船舶科学研究中心等众多知名企业合作伙伴。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907792" y="3593592"/>
            <a:ext cx="4187952" cy="1938528"/>
          </a:xfrm>
          <a:prstGeom prst="roundRect">
            <a:avLst/>
          </a:prstGeom>
          <a:solidFill>
            <a:srgbClr val="F3F8FB"/>
          </a:solidFill>
          <a:ln w="10160">
            <a:solidFill>
              <a:srgbClr val="D7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08960" y="3794760"/>
            <a:ext cx="164592" cy="164592"/>
          </a:xfrm>
          <a:prstGeom prst="ellipse">
            <a:avLst/>
          </a:prstGeom>
          <a:solidFill>
            <a:srgbClr val="0F8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4992" y="3739896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8243A"/>
                </a:solidFill>
                <a:latin typeface="微软雅黑" panose="020B0503020204020204" pitchFamily="34" charset="-122"/>
              </a:rPr>
              <a:t>认证与数字化</a:t>
            </a:r>
            <a:endParaRPr sz="15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27248" y="4160520"/>
            <a:ext cx="3749039" cy="1225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企业已通过 ISO9001 质量管理体系认证，产品取得 CCS、ABS、DNV、LR、BV、RS 等多国船级社认证；建成 PLM、ERP、MES 全流程数字化管控体系，拥有自主知识产权船用 PLC 产品。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33488" y="3593592"/>
            <a:ext cx="4187952" cy="1938528"/>
          </a:xfrm>
          <a:prstGeom prst="roundRect">
            <a:avLst/>
          </a:prstGeom>
          <a:solidFill>
            <a:srgbClr val="E9F7F6"/>
          </a:solidFill>
          <a:ln w="10160">
            <a:solidFill>
              <a:srgbClr val="D7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34656" y="3794760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0688" y="3739896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8243A"/>
                </a:solidFill>
                <a:latin typeface="微软雅黑" panose="020B0503020204020204" pitchFamily="34" charset="-122"/>
              </a:rPr>
              <a:t>招聘与愿景</a:t>
            </a:r>
            <a:endParaRPr sz="15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52944" y="4160520"/>
            <a:ext cx="3749039" cy="1225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公司秉持“尊重、责任、创新、品质、效率”核心价值观，坚守“坚决不让任何一件有缺陷的产品流入市场”质量理念，致力于成为全球船舶海事领域电控产品专家。第二个五年规划（2026–2030），公司全新产业基地、研发大楼投入运营，重点攻坚极地、深海、绿色智能海装，冲刺国家级专精特新企业，现面向高校广纳英才，诚邀电气自动化、计算机管理专业同学加入我们“向海向未来”！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1792" y="6473952"/>
            <a:ext cx="4206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E707D"/>
                </a:solidFill>
                <a:latin typeface="微软雅黑" panose="020B0503020204020204" pitchFamily="34" charset="-122"/>
              </a:rPr>
              <a:t>海鲸船舶 · 面向未来的海事电控人才平台</a:t>
            </a:r>
            <a:endParaRPr sz="90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082528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0F8CC9"/>
                </a:solidFill>
                <a:latin typeface="微软雅黑" panose="020B0503020204020204" pitchFamily="34" charset="-122"/>
              </a:rPr>
              <a:t>02</a:t>
            </a:r>
            <a:endParaRPr sz="1000" b="1">
              <a:solidFill>
                <a:srgbClr val="0F8CC9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1148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WHY HAIJING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为什么选择海鲸？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89888"/>
            <a:ext cx="4892040" cy="8046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从船用电气设备研发、设计、生产，到项目交付与服务，海鲸把真实产业场景带进人才培养。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395728"/>
            <a:ext cx="4617720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公司成立于 2021 年，位于江阴市经济开发区深业研创科技产业园，专注于船用电气设备及控制系统，是国家级高新技术企业。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3364992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37581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公司成立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3364865"/>
            <a:ext cx="1250950" cy="384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ISO9001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37581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质量体系认证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3364992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9+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37581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船级社认证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4315968"/>
            <a:ext cx="480060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51713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企业文化关键词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8280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尊重 · 责任 · 创新 · 品质 · 效率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629400" y="5321808"/>
            <a:ext cx="4389120" cy="512064"/>
          </a:xfrm>
          <a:prstGeom prst="roundRect">
            <a:avLst>
              <a:gd name="adj" fmla="val 21429"/>
            </a:avLst>
          </a:prstGeom>
          <a:solidFill>
            <a:srgbClr val="08243A">
              <a:alpha val="92000"/>
            </a:srgbClr>
          </a:solidFill>
          <a:ln w="12700">
            <a:solidFill>
              <a:srgbClr val="08243A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54772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真实企业 · 真实项目 · 真实成长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6510528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海鲸船舶 · 面向未来的技术人才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082528" y="643737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pic>
        <p:nvPicPr>
          <p:cNvPr id="20" name="图片 19" descr="微信图片_20260826135935_106_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880" y="1683385"/>
            <a:ext cx="5598160" cy="31807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1148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TWO TRACKS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两大专业，连接同一条产业链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53312"/>
            <a:ext cx="5669280" cy="5852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一个偏“设备与控制”，一个偏“数据与协同”。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都以船舶智能制造和企业数字化为真实应用场景。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249424"/>
            <a:ext cx="5321808" cy="3493008"/>
          </a:xfrm>
          <a:prstGeom prst="roundRect">
            <a:avLst>
              <a:gd name="adj" fmla="val 5236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78608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0F8CC9"/>
          </a:solidFill>
          <a:ln w="12700">
            <a:solidFill>
              <a:srgbClr val="0F8CC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697480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257860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电气自动化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901952" y="296265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把电路、控制与设备调试，变成可交付的工程能力。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70332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核心学习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9264" y="397764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电工基础  ·  PLC 控制  ·  低压电气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船舶配电  ·  现场调试  ·  安全规范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5148072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适合喜欢动手、拆解问题、看到设备“跑起来”的你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249424"/>
            <a:ext cx="5321808" cy="3493008"/>
          </a:xfrm>
          <a:prstGeom prst="roundRect">
            <a:avLst>
              <a:gd name="adj" fmla="val 5236"/>
            </a:avLst>
          </a:prstGeom>
          <a:solidFill>
            <a:srgbClr val="FFF4E5"/>
          </a:solidFill>
          <a:ln w="1270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2578608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F49A35"/>
          </a:solidFill>
          <a:ln w="12700">
            <a:solidFill>
              <a:srgbClr val="F49A35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2697480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61504" y="257860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计算机管理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461504" y="296265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把信息、流程与数据，变成可协同的管理能力。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70332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9A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核心学习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9776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办公数字化  ·  ERP / PLM 基础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数据整理  ·  项目协同  ·  网络安全意识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5148072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49A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适合喜欢系统思考、信息整理、让团队更高效的你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6510528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海鲸船舶 · 面向未来的技术人才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82528" y="643737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1148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CURRICULUM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四段式学习地图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53312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从基础能力到岗位交付，每一步都有作品、有反馈、有进阶。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2999232"/>
            <a:ext cx="9875520" cy="0"/>
          </a:xfrm>
          <a:prstGeom prst="line">
            <a:avLst/>
          </a:prstGeom>
          <a:noFill/>
          <a:ln w="31750">
            <a:solidFill>
              <a:srgbClr val="63C2D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86384" y="2176272"/>
            <a:ext cx="932688" cy="932688"/>
          </a:xfrm>
          <a:prstGeom prst="roundRect">
            <a:avLst>
              <a:gd name="adj" fmla="val 49020"/>
            </a:avLst>
          </a:prstGeom>
          <a:solidFill>
            <a:srgbClr val="0F8CC9"/>
          </a:solidFill>
          <a:ln w="12700">
            <a:solidFill>
              <a:srgbClr val="0F8CC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45973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4381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夯实基础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3886200"/>
            <a:ext cx="157276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电工 / 计算机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基础与安全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85032" y="2176272"/>
            <a:ext cx="932688" cy="932688"/>
          </a:xfrm>
          <a:prstGeom prst="roundRect">
            <a:avLst>
              <a:gd name="adj" fmla="val 49020"/>
            </a:avLst>
          </a:prstGeom>
          <a:solidFill>
            <a:srgbClr val="0F8CC9"/>
          </a:solidFill>
          <a:ln w="12700">
            <a:solidFill>
              <a:srgbClr val="0F8CC9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85032" y="245973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4381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专业进阶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374136" y="3886200"/>
            <a:ext cx="157276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PLC / ERP / PLM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工具与方法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2176272"/>
            <a:ext cx="932688" cy="932688"/>
          </a:xfrm>
          <a:prstGeom prst="roundRect">
            <a:avLst>
              <a:gd name="adj" fmla="val 49020"/>
            </a:avLst>
          </a:prstGeom>
          <a:solidFill>
            <a:srgbClr val="0F8CC9"/>
          </a:solidFill>
          <a:ln w="12700">
            <a:solidFill>
              <a:srgbClr val="0F8CC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45973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34381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项目实训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3886200"/>
            <a:ext cx="157276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图纸、数据、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流程协同练习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82328" y="2176272"/>
            <a:ext cx="932688" cy="932688"/>
          </a:xfrm>
          <a:prstGeom prst="roundRect">
            <a:avLst>
              <a:gd name="adj" fmla="val 49020"/>
            </a:avLst>
          </a:prstGeom>
          <a:solidFill>
            <a:srgbClr val="F49A35"/>
          </a:solidFill>
          <a:ln w="12700">
            <a:solidFill>
              <a:srgbClr val="F49A3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82328" y="245973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317736" y="34381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岗位交付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3886200"/>
            <a:ext cx="157276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实习、认证、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就业衔接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384" y="5074920"/>
            <a:ext cx="103327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" y="526694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作品集建议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04288" y="5239512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电气方向：控制回路图 / PLC 小项目    ·    计算机方向：数据台账 / 流程看板 / 协同模板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6510528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海鲸船舶 · 面向未来的技术人才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82528" y="643737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1148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</a:t>
            </a:r>
            <a:r>
              <a:rPr lang="en-US" sz="1000" b="1" kern="0" spc="15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CAREER</a:t>
            </a:r>
            <a:endParaRPr lang="en-US" sz="1000" b="1" kern="0" spc="15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21792" y="658368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学成之后，你可以去哪里？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58368" y="135331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岗位不是终点，能持续解决问题，才是职业竞争力。</a:t>
            </a:r>
            <a:endParaRPr lang="en-US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5230368" cy="3246120"/>
          </a:xfrm>
          <a:prstGeom prst="roundRect">
            <a:avLst>
              <a:gd name="adj" fmla="val 5634"/>
            </a:avLst>
          </a:prstGeom>
          <a:solidFill>
            <a:srgbClr val="123F59"/>
          </a:solidFill>
          <a:ln w="12700">
            <a:solidFill>
              <a:srgbClr val="123F5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4048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F8CC9"/>
          </a:solidFill>
          <a:ln w="12700">
            <a:solidFill>
              <a:srgbClr val="0F8CC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468880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电气自动化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24128" y="296265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F8CC9"/>
          </a:solidFill>
          <a:ln w="12700">
            <a:solidFill>
              <a:srgbClr val="0F8CC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3008376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9352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电气装配 / 接线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24128" y="35295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F8CC9"/>
          </a:solidFill>
          <a:ln w="12700">
            <a:solidFill>
              <a:srgbClr val="0F8CC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3575304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350215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PLC 调试助理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4128" y="40965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F8CC9"/>
          </a:solidFill>
          <a:ln w="12700">
            <a:solidFill>
              <a:srgbClr val="0F8CC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4142232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44752" y="40690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现场服务工程师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480060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3D9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从读图、接线开始，走向设备控制与现场交付。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6208" y="2084832"/>
            <a:ext cx="5230368" cy="3246120"/>
          </a:xfrm>
          <a:prstGeom prst="roundRect">
            <a:avLst>
              <a:gd name="adj" fmla="val 5634"/>
            </a:avLst>
          </a:prstGeom>
          <a:solidFill>
            <a:srgbClr val="123F59"/>
          </a:solidFill>
          <a:ln w="12700">
            <a:solidFill>
              <a:srgbClr val="123F5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4048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49A35"/>
          </a:solidFill>
          <a:ln w="12700">
            <a:solidFill>
              <a:srgbClr val="F49A3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56832" y="2468880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计算机管理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01968" y="296265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49A35"/>
          </a:solidFill>
          <a:ln w="12700">
            <a:solidFill>
              <a:srgbClr val="F49A3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1968" y="3008376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29352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生产文员 / 计划助理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01968" y="35295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49A35"/>
          </a:solidFill>
          <a:ln w="12700">
            <a:solidFill>
              <a:srgbClr val="F49A3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01968" y="3575304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350215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ERP / PLM 数据专员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01968" y="40965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49A35"/>
          </a:solidFill>
          <a:ln w="12700">
            <a:solidFill>
              <a:srgbClr val="F49A3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01968" y="4142232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022592" y="40690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项目协同 / 信息管理员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601968" y="480060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3D9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从数据、流程开始，走向数字化运营与项目管理。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" y="5833872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可继续成长：技术员 → 项目骨干 → 专业负责人</a:t>
            </a:r>
            <a:endParaRPr 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21792" y="6510528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海鲸船舶 · 面向未来的技术人才</a:t>
            </a:r>
            <a:endParaRPr lang="en-US" sz="900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1082528" y="643737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C2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3017520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0F8CC9"/>
                </a:solidFill>
                <a:latin typeface="微软雅黑" panose="020B0503020204020204" pitchFamily="34" charset="-122"/>
              </a:rPr>
              <a:t>0</a:t>
            </a:r>
            <a:r>
              <a:rPr lang="en-US" sz="1000" b="1">
                <a:solidFill>
                  <a:srgbClr val="0F8CC9"/>
                </a:solidFill>
                <a:latin typeface="微软雅黑" panose="020B0503020204020204" pitchFamily="34" charset="-122"/>
              </a:rPr>
              <a:t>6</a:t>
            </a:r>
            <a:r>
              <a:rPr sz="1000" b="1">
                <a:solidFill>
                  <a:srgbClr val="0F8CC9"/>
                </a:solidFill>
                <a:latin typeface="微软雅黑" panose="020B0503020204020204" pitchFamily="34" charset="-122"/>
              </a:rPr>
              <a:t> / GROW WITH HAIJING</a:t>
            </a:r>
            <a:endParaRPr sz="1000" b="1">
              <a:solidFill>
                <a:srgbClr val="0F8CC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08243A"/>
                </a:solidFill>
                <a:latin typeface="微软雅黑" panose="020B0503020204020204" pitchFamily="34" charset="-122"/>
              </a:rPr>
              <a:t>加入海鲸，你会获得什么？</a:t>
            </a:r>
            <a:endParaRPr sz="28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01000" y="67665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真实项目 · 导师带教 · 成长路径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5623560" cy="2615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1907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8243A"/>
                </a:solidFill>
                <a:latin typeface="微软雅黑" panose="020B0503020204020204" pitchFamily="34" charset="-122"/>
              </a:rPr>
              <a:t>把专业能力，转化为真实项目中的成长力</a:t>
            </a:r>
            <a:endParaRPr sz="17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48920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E707D"/>
                </a:solidFill>
                <a:latin typeface="微软雅黑" panose="020B0503020204020204" pitchFamily="34" charset="-122"/>
              </a:rPr>
              <a:t>海鲸把船舶电气、控制系统和数字化管理场景带进培养与岗位，让高校同学从第一天就知道自己在解决什么问题。</a:t>
            </a:r>
            <a:endParaRPr sz="120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6112" y="3246120"/>
            <a:ext cx="4526280" cy="411480"/>
          </a:xfrm>
          <a:prstGeom prst="roundRect">
            <a:avLst/>
          </a:prstGeom>
          <a:solidFill>
            <a:srgbClr val="E9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355848"/>
            <a:ext cx="4160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70" b="1">
                <a:solidFill>
                  <a:srgbClr val="00A6A6"/>
                </a:solidFill>
                <a:latin typeface="微软雅黑" panose="020B0503020204020204" pitchFamily="34" charset="-122"/>
              </a:rPr>
              <a:t>适合专业：电气自动化  ·  计算机管理  ·  愿意解决问题</a:t>
            </a:r>
            <a:endParaRPr sz="970" b="1">
              <a:solidFill>
                <a:srgbClr val="00A6A6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0" name="Picture 9" descr="C:/Users/LYnn/Desktop/海鲸图片/微信图片_20260728194907_11_15.jpg微信图片_20260728194907_11_15"/>
          <p:cNvPicPr>
            <a:picLocks noChangeAspect="1"/>
          </p:cNvPicPr>
          <p:nvPr/>
        </p:nvPicPr>
        <p:blipFill>
          <a:blip r:embed="rId1"/>
          <a:srcRect t="15195" b="15195"/>
          <a:stretch>
            <a:fillRect/>
          </a:stretch>
        </p:blipFill>
        <p:spPr>
          <a:xfrm>
            <a:off x="6510528" y="1389888"/>
            <a:ext cx="5010912" cy="26151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84848" y="3584448"/>
            <a:ext cx="1965960" cy="301752"/>
          </a:xfrm>
          <a:prstGeom prst="roundRect">
            <a:avLst/>
          </a:prstGeom>
          <a:solidFill>
            <a:srgbClr val="0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2864" y="3657600"/>
            <a:ext cx="171907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pitchFamily="34" charset="-122"/>
              </a:rPr>
              <a:t>产业现场 · 学习成果可被看见</a:t>
            </a:r>
            <a:endParaRPr sz="87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" y="4370832"/>
            <a:ext cx="26334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562856"/>
            <a:ext cx="310896" cy="310896"/>
          </a:xfrm>
          <a:prstGeom prst="ellipse">
            <a:avLst/>
          </a:prstGeom>
          <a:solidFill>
            <a:srgbClr val="0F8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26864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3584" y="4553712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真实项目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001768"/>
            <a:ext cx="2212848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5E707D"/>
                </a:solidFill>
                <a:latin typeface="微软雅黑" panose="020B0503020204020204" pitchFamily="34" charset="-122"/>
              </a:rPr>
              <a:t>参与船舶电气设备、控制系统与数字化管理项目，学习成果可被看见。</a:t>
            </a:r>
            <a:endParaRPr sz="102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56432" y="4370832"/>
            <a:ext cx="2633472" cy="1417320"/>
          </a:xfrm>
          <a:prstGeom prst="roundRect">
            <a:avLst/>
          </a:prstGeom>
          <a:solidFill>
            <a:srgbClr val="E9F7F6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0" y="4562856"/>
            <a:ext cx="310896" cy="31089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626864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78224" y="4553712"/>
            <a:ext cx="1737360" cy="231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资深工程师带教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0" y="5001768"/>
            <a:ext cx="2212848" cy="35623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5E707D"/>
                </a:solidFill>
                <a:latin typeface="微软雅黑" panose="020B0503020204020204" pitchFamily="34" charset="-122"/>
              </a:rPr>
              <a:t>工程师与专业</a:t>
            </a:r>
            <a:r>
              <a:rPr lang="zh-CN" sz="1020" b="0">
                <a:solidFill>
                  <a:srgbClr val="5E707D"/>
                </a:solidFill>
                <a:latin typeface="微软雅黑" panose="020B0503020204020204" pitchFamily="34" charset="-122"/>
              </a:rPr>
              <a:t>人才</a:t>
            </a:r>
            <a:r>
              <a:rPr sz="1020" b="0">
                <a:solidFill>
                  <a:srgbClr val="5E707D"/>
                </a:solidFill>
                <a:latin typeface="微软雅黑" panose="020B0503020204020204" pitchFamily="34" charset="-122"/>
              </a:rPr>
              <a:t>协同带教，从基础任务、现场协作到项目交付。</a:t>
            </a:r>
            <a:endParaRPr sz="102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91072" y="4370832"/>
            <a:ext cx="26334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562856"/>
            <a:ext cx="310896" cy="310896"/>
          </a:xfrm>
          <a:prstGeom prst="ellipse">
            <a:avLst/>
          </a:prstGeom>
          <a:solidFill>
            <a:srgbClr val="0F8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626864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12864" y="4553712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成长路径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2240" y="5001768"/>
            <a:ext cx="2212848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5E707D"/>
                </a:solidFill>
                <a:latin typeface="微软雅黑" panose="020B0503020204020204" pitchFamily="34" charset="-122"/>
              </a:rPr>
              <a:t>基础学习 → 岗位实训 → 真实项目 → 独立交付，阶段目标清晰。</a:t>
            </a:r>
            <a:endParaRPr sz="102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25712" y="4370832"/>
            <a:ext cx="2633472" cy="1417320"/>
          </a:xfrm>
          <a:prstGeom prst="roundRect">
            <a:avLst/>
          </a:prstGeom>
          <a:solidFill>
            <a:srgbClr val="E9F7F6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0" y="4562856"/>
            <a:ext cx="310896" cy="31089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4626864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47504" y="4553712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岗位选择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26880" y="5001768"/>
            <a:ext cx="2212848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5E707D"/>
                </a:solidFill>
                <a:latin typeface="微软雅黑" panose="020B0503020204020204" pitchFamily="34" charset="-122"/>
              </a:rPr>
              <a:t>电气自动化、PLC、ERP / PLM、项目协同等方向，找到适合自己的起点。</a:t>
            </a:r>
            <a:endParaRPr sz="102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1792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E707D"/>
                </a:solidFill>
                <a:latin typeface="微软雅黑" panose="020B0503020204020204" pitchFamily="34" charset="-122"/>
              </a:rPr>
              <a:t>海鲸船舶 · 第一份工作，也可以看见成果</a:t>
            </a:r>
            <a:endParaRPr sz="90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082528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0F8CC9"/>
                </a:solidFill>
                <a:latin typeface="微软雅黑" panose="020B0503020204020204" pitchFamily="34" charset="-122"/>
              </a:rPr>
              <a:t>06</a:t>
            </a:r>
            <a:endParaRPr sz="1000" b="1">
              <a:solidFill>
                <a:srgbClr val="0F8CC9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2743200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0F8CC9"/>
                </a:solidFill>
                <a:latin typeface="微软雅黑" panose="020B0503020204020204" pitchFamily="34" charset="-122"/>
              </a:rPr>
              <a:t>0</a:t>
            </a:r>
            <a:r>
              <a:rPr lang="en-US" sz="1000" b="1">
                <a:solidFill>
                  <a:srgbClr val="0F8CC9"/>
                </a:solidFill>
                <a:latin typeface="微软雅黑" panose="020B0503020204020204" pitchFamily="34" charset="-122"/>
              </a:rPr>
              <a:t>7</a:t>
            </a:r>
            <a:r>
              <a:rPr sz="1000" b="1">
                <a:solidFill>
                  <a:srgbClr val="0F8CC9"/>
                </a:solidFill>
                <a:latin typeface="微软雅黑" panose="020B0503020204020204" pitchFamily="34" charset="-122"/>
              </a:rPr>
              <a:t> / PEOPLE &amp; CULTURE</a:t>
            </a:r>
            <a:endParaRPr sz="1000" b="1">
              <a:solidFill>
                <a:srgbClr val="0F8CC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8243A"/>
                </a:solidFill>
                <a:latin typeface="微软雅黑" panose="020B0503020204020204" pitchFamily="34" charset="-122"/>
              </a:rPr>
              <a:t>友好型工厂，让工作更有温度</a:t>
            </a:r>
            <a:endParaRPr sz="27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63840" y="676656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舒适环境 · 温暖福利 · 年轻团队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" name="Picture 4" descr="C:/Users/LYnn/Desktop/ScreenShot_2026-09-11_170358_419.pngScreenShot_2026-09-11_170358_419"/>
          <p:cNvPicPr>
            <a:picLocks noChangeAspect="1"/>
          </p:cNvPicPr>
          <p:nvPr/>
        </p:nvPicPr>
        <p:blipFill>
          <a:blip r:embed="rId1"/>
          <a:srcRect t="15375" b="15375"/>
          <a:stretch>
            <a:fillRect/>
          </a:stretch>
        </p:blipFill>
        <p:spPr>
          <a:xfrm>
            <a:off x="621792" y="1353312"/>
            <a:ext cx="6537960" cy="2999232"/>
          </a:xfrm>
          <a:prstGeom prst="rect">
            <a:avLst/>
          </a:prstGeom>
        </p:spPr>
      </p:pic>
      <p:pic>
        <p:nvPicPr>
          <p:cNvPr id="6" name="Picture 5" descr="C:/Users/LYnn/Desktop/ScreenShot_2026-09-11_170513_699.pngScreenShot_2026-09-11_170513_699"/>
          <p:cNvPicPr>
            <a:picLocks noChangeAspect="1"/>
          </p:cNvPicPr>
          <p:nvPr/>
        </p:nvPicPr>
        <p:blipFill>
          <a:blip r:embed="rId2"/>
          <a:srcRect l="4040" r="4040"/>
          <a:stretch>
            <a:fillRect/>
          </a:stretch>
        </p:blipFill>
        <p:spPr>
          <a:xfrm>
            <a:off x="7388352" y="1353312"/>
            <a:ext cx="1965960" cy="1353312"/>
          </a:xfrm>
          <a:prstGeom prst="rect">
            <a:avLst/>
          </a:prstGeom>
        </p:spPr>
      </p:pic>
      <p:pic>
        <p:nvPicPr>
          <p:cNvPr id="7" name="Picture 6" descr="image2.jpeg"/>
          <p:cNvPicPr>
            <a:picLocks noChangeAspect="1"/>
          </p:cNvPicPr>
          <p:nvPr/>
        </p:nvPicPr>
        <p:blipFill>
          <a:blip r:embed="rId3"/>
          <a:srcRect l="2000" t="3000" r="2000" b="3000"/>
          <a:stretch>
            <a:fillRect/>
          </a:stretch>
        </p:blipFill>
        <p:spPr>
          <a:xfrm>
            <a:off x="9528048" y="1353312"/>
            <a:ext cx="1965960" cy="1353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3858768"/>
            <a:ext cx="2103120" cy="347472"/>
          </a:xfrm>
          <a:prstGeom prst="roundRect">
            <a:avLst/>
          </a:prstGeom>
          <a:solidFill>
            <a:srgbClr val="0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941063"/>
            <a:ext cx="178308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</a:rPr>
              <a:t>明亮、整洁、舒适的工作现场</a:t>
            </a:r>
            <a:endParaRPr sz="9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88352" y="2880360"/>
            <a:ext cx="4069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把员工体验，放进工厂设计里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8352" y="3200400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5E707D"/>
                </a:solidFill>
                <a:latin typeface="微软雅黑" panose="020B0503020204020204" pitchFamily="34" charset="-122"/>
              </a:rPr>
              <a:t>从全场地空调到绿色能源，从节日福利到团队氛围，海鲸把每一天的工作体验做得更友好。</a:t>
            </a:r>
            <a:endParaRPr sz="110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" y="4645152"/>
            <a:ext cx="265176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846320"/>
            <a:ext cx="164592" cy="164592"/>
          </a:xfrm>
          <a:prstGeom prst="ellipse">
            <a:avLst/>
          </a:prstGeom>
          <a:solidFill>
            <a:srgbClr val="0F8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773168"/>
            <a:ext cx="19933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全场地空调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5193792"/>
            <a:ext cx="2212848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办公区与生产区覆盖空调系统，恒温恒湿控制，让专注工作与稳定生产都更舒适。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56432" y="4645152"/>
            <a:ext cx="2651760" cy="1353312"/>
          </a:xfrm>
          <a:prstGeom prst="roundRect">
            <a:avLst/>
          </a:prstGeom>
          <a:solidFill>
            <a:srgbClr val="E9F7F6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7600" y="4846320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1" y="4773168"/>
            <a:ext cx="19933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友好型工厂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75887" y="5193792"/>
            <a:ext cx="2212848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厂区明亮整洁、动线清晰，屋顶光伏、LED 照明与数字化流程共同构成绿色友好的工作环境。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4645152"/>
            <a:ext cx="265176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4846320"/>
            <a:ext cx="164592" cy="164592"/>
          </a:xfrm>
          <a:prstGeom prst="ellipse">
            <a:avLst/>
          </a:prstGeom>
          <a:solidFill>
            <a:srgbClr val="0F8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4773168"/>
            <a:ext cx="19933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节假日福利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0528" y="5193792"/>
            <a:ext cx="2212848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重要节日有公司关怀与员工福利，把仪式感变成看得见的温暖与归属感。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25712" y="4645152"/>
            <a:ext cx="2331720" cy="1353312"/>
          </a:xfrm>
          <a:prstGeom prst="roundRect">
            <a:avLst/>
          </a:prstGeom>
          <a:solidFill>
            <a:srgbClr val="E9F7F6"/>
          </a:solidFill>
          <a:ln w="10160">
            <a:solidFill>
              <a:srgbClr val="D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0" y="4846320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2912" y="4773168"/>
            <a:ext cx="167335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8243A"/>
                </a:solidFill>
                <a:latin typeface="微软雅黑" panose="020B0503020204020204" pitchFamily="34" charset="-122"/>
              </a:rPr>
              <a:t>年轻化团队</a:t>
            </a:r>
            <a:endParaRPr sz="1400" b="1">
              <a:solidFill>
                <a:srgbClr val="08243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45168" y="5193792"/>
            <a:ext cx="1892807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E707D"/>
                </a:solidFill>
                <a:latin typeface="微软雅黑" panose="020B0503020204020204" pitchFamily="34" charset="-122"/>
              </a:rPr>
              <a:t>团队年轻、沟通直接、氛围开放，跨专业协作更高效，一起把想法做成成果。</a:t>
            </a:r>
            <a:endParaRPr sz="105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" y="647395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E707D"/>
                </a:solidFill>
                <a:latin typeface="微软雅黑" panose="020B0503020204020204" pitchFamily="34" charset="-122"/>
              </a:rPr>
              <a:t>海鲸船舶 · 让每一位伙伴舒心工作、持续成长</a:t>
            </a:r>
            <a:endParaRPr sz="900" b="0">
              <a:solidFill>
                <a:srgbClr val="5E70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082528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0F8CC9"/>
                </a:solidFill>
                <a:latin typeface="微软雅黑" panose="020B0503020204020204" pitchFamily="34" charset="-122"/>
              </a:rPr>
              <a:t>07</a:t>
            </a:r>
            <a:endParaRPr sz="1000" b="1">
              <a:solidFill>
                <a:srgbClr val="0F8CC9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Documents\Codex\2026-09-11\new-chat\work\page8.png"/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903720" y="182880"/>
            <a:ext cx="4983480" cy="365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/ join 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786384"/>
            <a:ext cx="61264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下一站，成为解决问题的人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76656" y="153619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电气自动化与计算机管理专业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期待与你一起，把技术做成价值。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" y="2743200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999232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报名信息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42900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招生对象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341985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5000"/>
          </a:bodyPr>
          <a:lstStyle/>
          <a:p>
            <a:pPr marL="0" indent="0" algn="l">
              <a:buNone/>
            </a:pPr>
            <a:r>
              <a:rPr lang="en-US" sz="1300" dirty="0"/>
              <a:t>2027</a:t>
            </a:r>
            <a:r>
              <a:rPr lang="zh-CN" altLang="en-US" sz="1300" dirty="0"/>
              <a:t>届专科</a:t>
            </a:r>
            <a:r>
              <a:rPr lang="en-US" altLang="zh-CN" sz="1300" dirty="0"/>
              <a:t>/</a:t>
            </a:r>
            <a:r>
              <a:rPr lang="zh-CN" altLang="en-US" sz="1300" dirty="0"/>
              <a:t>本科及以上学历</a:t>
            </a:r>
            <a:r>
              <a:rPr lang="zh-CN" altLang="en-US" sz="1300" dirty="0">
                <a:sym typeface="+mn-ea"/>
              </a:rPr>
              <a:t>电气自动化及</a:t>
            </a:r>
            <a:r>
              <a:rPr lang="zh-CN" altLang="en-US" sz="1300" dirty="0">
                <a:sym typeface="+mn-ea"/>
              </a:rPr>
              <a:t>计算机管理相关专业</a:t>
            </a:r>
            <a:endParaRPr lang="zh-CN" altLang="en-US" sz="1300" dirty="0">
              <a:sym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960120" y="3849624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100" b="1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联系</a:t>
            </a:r>
            <a:r>
              <a:rPr lang="en-US" sz="1100" b="1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方式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38404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15821978295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27024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100" b="1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联系</a:t>
            </a:r>
            <a:r>
              <a:rPr lang="zh-CN" altLang="en-US" sz="1100" b="1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邮箱</a:t>
            </a:r>
            <a:endParaRPr lang="zh-CN" altLang="en-US" sz="1100" b="1" dirty="0">
              <a:solidFill>
                <a:srgbClr val="6B7D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965960" y="426110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15821978295@163.</a:t>
            </a:r>
            <a:r>
              <a:rPr lang="en-US" sz="1300" dirty="0">
                <a:solidFill>
                  <a:srgbClr val="1730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com</a:t>
            </a:r>
            <a:endParaRPr lang="en-US" sz="1300" dirty="0">
              <a:solidFill>
                <a:srgbClr val="1730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536813" y="2798445"/>
            <a:ext cx="2148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6D8D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6813" y="3420237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二维码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待补充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" y="61447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824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海鲸船舶 · 向海向未来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6510528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D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海鲸船舶 · 面向未来的技术人才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082528" y="643737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8C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2433</Words>
  <Application>WPS 演示</Application>
  <PresentationFormat>On-screen Show (16:9)</PresentationFormat>
  <Paragraphs>307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江阴市海鲸船舶设备有限公司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海鲸船舶专业招生简章</dc:title>
  <dc:creator>OpenAI</dc:creator>
  <dc:subject>海鲸船舶专业招生简章</dc:subject>
  <cp:lastModifiedBy>LYnn</cp:lastModifiedBy>
  <cp:revision>3</cp:revision>
  <dcterms:created xsi:type="dcterms:W3CDTF">2026-09-11T05:14:00Z</dcterms:created>
  <dcterms:modified xsi:type="dcterms:W3CDTF">2026-09-11T09:21:34Z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2052-12.1.0.26899</vt:lpwstr>
  </property>
  <property fmtid="{D5CDD505-2E9C-101B-9397-08002B2CF9AE}" pid="3" name="ICV">
    <vt:lpwstr>9B2BD5183DD94DCD8D8DEF69A2B99738_13</vt:lpwstr>
  </property>
</Properties>
</file>